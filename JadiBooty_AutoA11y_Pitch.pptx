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3d4ccc4-e4fd-f70a-42b8-41ae9eb33825}">
          <p14:sldIdLst>
            <p14:sldId id="256"/>
          </p14:sldIdLst>
        </p14:section>
        <p14:section name="Problem" id="{f63d9b77-d864-c25d-b383-b664ea126ed4}">
          <p14:sldIdLst>
            <p14:sldId id="257"/>
            <p14:sldId id="258"/>
          </p14:sldIdLst>
        </p14:section>
        <p14:section name="Audience" id="{588c52ab-1bec-fdad-3cc5-a7372feff4c0}">
          <p14:sldIdLst>
            <p14:sldId id="259"/>
          </p14:sldIdLst>
        </p14:section>
        <p14:section name="Solution" id="{72dca123-6f96-5aa9-ee35-1ba79e2bab82}">
          <p14:sldIdLst>
            <p14:sldId id="260"/>
            <p14:sldId id="261"/>
          </p14:sldIdLst>
        </p14:section>
        <p14:section name="Architecture" id="{87b4e71c-181a-893d-7551-78b71a133c67}">
          <p14:sldIdLst>
            <p14:sldId id="262"/>
            <p14:sldId id="263"/>
          </p14:sldIdLst>
        </p14:section>
        <p14:section name="Execution" id="{51291af8-3f85-57b7-bd37-2c6dc16e2c4f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loop, not the backstory. Say: "Existing tools tell you your site is broken. AutoA11y fixes it, then proves the fix worked." Ten seconds,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these failures are mechanical; that sets up why an agent can fix them. Say: "Six error types make up about 96% of everything detected. That's a job for automation, not consultants." Figures are from the WebAIM Million 2026 (Feb 2026 crawl): 95.9% of home pages fail, up from 94.8% in 2025, the first rise in six years, with 56.1 errors per page on average. Mention that it got worse this year; that's your urgency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'why us, why today' slide. Name both rulings: Rajive Raturi v. Union of India (2024 INSC 858, 8 Nov 2024) held Rule 15(1) of the RPwD Rules ultra vires and directed the Union to frame mandatory accessibility rules. Pragya Prasun &amp; Amar Jain v. Union of India (30 Apr 2025) held that inclusive digital access to e-governance is part of the right to life under Article 21; that petition was about inaccessible government websites and apps. Then land the banner: "Diagnosis was solved a decade ago. Repair was unsolvable until agents."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end-users with disabilities benefit, but developers are who adopt and pay. Judges respect a team that knows who pays versus who benefits. Note: the Census 2011 figure is widely considered an undercount.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the automation limit proactively — it answers the toughest judge question before anyone asks: "Automated tools catch roughly half of WCAG issues. We fix that half completely and hand you a checklist for the rest." The ~57% comes from Deque's 2021 study of 13,000+ pages and ~300,000 issues, measured by issue volume. Emphasise: URL mode can only audit — fixing needs repo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fast. The point of this slide: every feature produces evidence. Read the four titles, linger half a second on the dark card (the fix loop is the product), then move to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green loop arrows and say: "This is where Cline lives." Flow: the repo is cloned into a sandbox, the baseline audit produces violation JSON with CSS selectors, then a Cline SDK agent (@cline/sdk, the same agent core behind Cline's IDE extension and CLI) fixes the code with its built-in file tools and calls our run_audit custom tool, registered with createTool, until violations pass (max 5 iterations). The final Lighthouse audit and diff go to the UI for developer approval. The SDK requires Node 22+, so the backend runs on Node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here: this slide scores 'Effective Use of Cline' and the SDK bonus. Key points: (1) We embed the agent with @cline/sdk rather than wrapping an LLM API. (2) run_audit is our own tool, registered with createTool and packaged as a Cline plugin, so the agent verifies its own work and decides when to stop. (3) Guardrails use SDK features: maxIterations caps the loop, tool policies restrict what the agent may do, hooks observe every step for the UI, and checkpoints let us roll back. Say it directly: "Cline closes the loop itself. Our backend doesn't call an LLM repeatedly; the agent reads, edits, verifies and decides." Also mention build-time use: we build AutoA11y itself with Cline during the finale.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out-of-scope list is your credibility — say "We deliberately cut X, Y and Z" out loud. Hours 1–5 (dark blocks) are the critical path: the Cline loop. The backup recording at hour 6–7 matters because live agent demos fail; judges forgive a failed live run if a recording proves the system works. Check the hackathon rules on whether the seeded demo site can be prepared before the finale; if not, build it in hour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 metrics to mention if asked: % of violations auto-fixed, score delta, time to fix, and edits needing human revert (target: zero). End on the closing line and stop talking. Don't trail into "so yeah, that's our project."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05156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148840"/>
            <a:ext cx="51206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Team JadiBooty  ·  AutoA11y  ·  Cline AI Builders Hackathon, IIT Kanpur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6126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Team JadiBooty  ·  AutoA11y  ·  Cline AI Builders Hackathon, IIT Kanpur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6126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051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AutoA11y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1488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Accessibility debt, paid down by an agent.</a:t>
            </a:r>
            <a:endParaRPr lang="en-US" sz="2200" dirty="0"/>
          </a:p>
        </p:txBody>
      </p:sp>
      <p:sp>
        <p:nvSpPr>
          <p:cNvPr id="4" name="Chip Audit"/>
          <p:cNvSpPr/>
          <p:nvPr/>
        </p:nvSpPr>
        <p:spPr>
          <a:xfrm>
            <a:off x="457200" y="2971800"/>
            <a:ext cx="11430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Chip label Audit"/>
          <p:cNvSpPr txBox="1"/>
          <p:nvPr/>
        </p:nvSpPr>
        <p:spPr>
          <a:xfrm>
            <a:off x="457200" y="29718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Audit</a:t>
            </a:r>
            <a:endParaRPr lang="en-US" sz="1600" dirty="0"/>
          </a:p>
        </p:txBody>
      </p:sp>
      <p:sp>
        <p:nvSpPr>
          <p:cNvPr id="6" name="Chip arrow 0"/>
          <p:cNvSpPr/>
          <p:nvPr/>
        </p:nvSpPr>
        <p:spPr>
          <a:xfrm>
            <a:off x="1709928" y="3090672"/>
            <a:ext cx="256032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7" name="Chip Fix"/>
          <p:cNvSpPr/>
          <p:nvPr/>
        </p:nvSpPr>
        <p:spPr>
          <a:xfrm>
            <a:off x="2057400" y="2971800"/>
            <a:ext cx="11430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Chip label Fix"/>
          <p:cNvSpPr txBox="1"/>
          <p:nvPr/>
        </p:nvSpPr>
        <p:spPr>
          <a:xfrm>
            <a:off x="2057400" y="29718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Fix</a:t>
            </a:r>
            <a:endParaRPr lang="en-US" sz="1600" dirty="0"/>
          </a:p>
        </p:txBody>
      </p:sp>
      <p:sp>
        <p:nvSpPr>
          <p:cNvPr id="9" name="Chip arrow 1"/>
          <p:cNvSpPr/>
          <p:nvPr/>
        </p:nvSpPr>
        <p:spPr>
          <a:xfrm>
            <a:off x="3310128" y="3090672"/>
            <a:ext cx="256032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Chip Verify"/>
          <p:cNvSpPr/>
          <p:nvPr/>
        </p:nvSpPr>
        <p:spPr>
          <a:xfrm>
            <a:off x="3657600" y="2971800"/>
            <a:ext cx="11430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Chip label Verify"/>
          <p:cNvSpPr txBox="1"/>
          <p:nvPr/>
        </p:nvSpPr>
        <p:spPr>
          <a:xfrm>
            <a:off x="3657600" y="29718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Verify</a:t>
            </a:r>
            <a:endParaRPr lang="en-US" sz="1600" dirty="0"/>
          </a:p>
        </p:txBody>
      </p:sp>
      <p:sp>
        <p:nvSpPr>
          <p:cNvPr id="12" name="Powered by"/>
          <p:cNvSpPr txBox="1"/>
          <p:nvPr/>
        </p:nvSpPr>
        <p:spPr>
          <a:xfrm>
            <a:off x="457200" y="3611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Powered by the Cline SDK  ·  every change a reviewable diff</a:t>
            </a:r>
            <a:endParaRPr lang="en-US" sz="1400" dirty="0"/>
          </a:p>
        </p:txBody>
      </p:sp>
      <p:sp>
        <p:nvSpPr>
          <p:cNvPr id="13" name="Team line"/>
          <p:cNvSpPr txBox="1"/>
          <p:nvPr/>
        </p:nvSpPr>
        <p:spPr>
          <a:xfrm>
            <a:off x="45720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Team JadiBooty  ·  IIT Kanpur  ·  Cline AI Builders Hackathon</a:t>
            </a:r>
            <a:endParaRPr lang="en-US" sz="1200" dirty="0"/>
          </a:p>
        </p:txBody>
      </p:sp>
      <p:sp>
        <p:nvSpPr>
          <p:cNvPr id="14" name="Accessibility emblem circle"/>
          <p:cNvSpPr/>
          <p:nvPr/>
        </p:nvSpPr>
        <p:spPr>
          <a:xfrm>
            <a:off x="6172200" y="1188720"/>
            <a:ext cx="2468880" cy="24688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Accessibility emblem icon" descr="Accessibility em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9420" y="180594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95.9% of the web fails</a:t>
            </a:r>
            <a:endParaRPr lang="en-US" sz="3600" dirty="0"/>
          </a:p>
        </p:txBody>
      </p:sp>
      <p:sp>
        <p:nvSpPr>
          <p:cNvPr id="3" name="Deliverable tag"/>
          <p:cNvSpPr/>
          <p:nvPr/>
        </p:nvSpPr>
        <p:spPr>
          <a:xfrm>
            <a:off x="6675120" y="420624"/>
            <a:ext cx="20116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Deliverable tag text"/>
          <p:cNvSpPr txBox="1"/>
          <p:nvPr/>
        </p:nvSpPr>
        <p:spPr>
          <a:xfrm>
            <a:off x="6675120" y="4206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 · Problem Statement</a:t>
            </a:r>
            <a:endParaRPr lang="en-US" sz="11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India mandates accessibility. Small dev teams lack the labor to deliver it.</a:t>
            </a:r>
            <a:endParaRPr lang="en-US" sz="1600" dirty="0"/>
          </a:p>
        </p:txBody>
      </p:sp>
      <p:sp>
        <p:nvSpPr>
          <p:cNvPr id="6" name="Stat card"/>
          <p:cNvSpPr/>
          <p:nvPr/>
        </p:nvSpPr>
        <p:spPr>
          <a:xfrm>
            <a:off x="457200" y="1463040"/>
            <a:ext cx="3291840" cy="3063240"/>
          </a:xfrm>
          <a:prstGeom prst="roundRect">
            <a:avLst>
              <a:gd name="adj" fmla="val 358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Stat number"/>
          <p:cNvSpPr txBox="1"/>
          <p:nvPr/>
        </p:nvSpPr>
        <p:spPr>
          <a:xfrm>
            <a:off x="731520" y="1691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95.9%</a:t>
            </a:r>
            <a:endParaRPr lang="en-US" sz="6000" dirty="0"/>
          </a:p>
        </p:txBody>
      </p:sp>
      <p:sp>
        <p:nvSpPr>
          <p:cNvPr id="8" name="Stat label"/>
          <p:cNvSpPr txBox="1"/>
          <p:nvPr/>
        </p:nvSpPr>
        <p:spPr>
          <a:xfrm>
            <a:off x="73152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of the top 1 million home pages fail WCAG 2, averaging 56 errors per page</a:t>
            </a:r>
            <a:endParaRPr lang="en-US" sz="1600" dirty="0"/>
          </a:p>
        </p:txBody>
      </p:sp>
      <p:sp>
        <p:nvSpPr>
          <p:cNvPr id="9" name="Stat source"/>
          <p:cNvSpPr txBox="1"/>
          <p:nvPr/>
        </p:nvSpPr>
        <p:spPr>
          <a:xfrm>
            <a:off x="73152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Source: WebAIM Million 2026</a:t>
            </a:r>
            <a:endParaRPr lang="en-US" sz="1000" dirty="0"/>
          </a:p>
        </p:txBody>
      </p:sp>
      <p:sp>
        <p:nvSpPr>
          <p:cNvPr id="10" name="Bugs header"/>
          <p:cNvSpPr txBox="1"/>
          <p:nvPr/>
        </p:nvSpPr>
        <p:spPr>
          <a:xfrm>
            <a:off x="4069080" y="146304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Six mechanical error types cause ~96% of all errors</a:t>
            </a:r>
            <a:endParaRPr lang="en-US" sz="1500" dirty="0"/>
          </a:p>
        </p:txBody>
      </p:sp>
      <p:sp>
        <p:nvSpPr>
          <p:cNvPr id="11" name="Bug Low-contrast text circle"/>
          <p:cNvSpPr/>
          <p:nvPr/>
        </p:nvSpPr>
        <p:spPr>
          <a:xfrm>
            <a:off x="4069080" y="1828800"/>
            <a:ext cx="310896" cy="310896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2" name="Bug Low-contrast text icon" descr="Bug Low-contrast 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6804" y="1906524"/>
            <a:ext cx="155448" cy="155448"/>
          </a:xfrm>
          <a:prstGeom prst="rect">
            <a:avLst/>
          </a:prstGeom>
        </p:spPr>
      </p:pic>
      <p:sp>
        <p:nvSpPr>
          <p:cNvPr id="13" name="Bug text 0"/>
          <p:cNvSpPr txBox="1"/>
          <p:nvPr/>
        </p:nvSpPr>
        <p:spPr>
          <a:xfrm>
            <a:off x="4526280" y="18288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Low-contrast text</a:t>
            </a:r>
            <a:endParaRPr lang="en-US" sz="1400" dirty="0"/>
          </a:p>
        </p:txBody>
      </p:sp>
      <p:sp>
        <p:nvSpPr>
          <p:cNvPr id="14" name="Bug pct 0"/>
          <p:cNvSpPr txBox="1"/>
          <p:nvPr/>
        </p:nvSpPr>
        <p:spPr>
          <a:xfrm>
            <a:off x="7589520" y="1828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83.9%</a:t>
            </a:r>
            <a:endParaRPr lang="en-US" sz="1400" dirty="0"/>
          </a:p>
        </p:txBody>
      </p:sp>
      <p:sp>
        <p:nvSpPr>
          <p:cNvPr id="15" name="Bug Missing image alt text circle"/>
          <p:cNvSpPr/>
          <p:nvPr/>
        </p:nvSpPr>
        <p:spPr>
          <a:xfrm>
            <a:off x="4069080" y="2212848"/>
            <a:ext cx="310896" cy="310896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6" name="Bug Missing image alt text icon" descr="Bug Missing image alt 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804" y="2290572"/>
            <a:ext cx="155448" cy="155448"/>
          </a:xfrm>
          <a:prstGeom prst="rect">
            <a:avLst/>
          </a:prstGeom>
        </p:spPr>
      </p:pic>
      <p:sp>
        <p:nvSpPr>
          <p:cNvPr id="17" name="Bug text 1"/>
          <p:cNvSpPr txBox="1"/>
          <p:nvPr/>
        </p:nvSpPr>
        <p:spPr>
          <a:xfrm>
            <a:off x="4526280" y="22128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Missing image alt text</a:t>
            </a:r>
            <a:endParaRPr lang="en-US" sz="1400" dirty="0"/>
          </a:p>
        </p:txBody>
      </p:sp>
      <p:sp>
        <p:nvSpPr>
          <p:cNvPr id="18" name="Bug pct 1"/>
          <p:cNvSpPr txBox="1"/>
          <p:nvPr/>
        </p:nvSpPr>
        <p:spPr>
          <a:xfrm>
            <a:off x="7589520" y="2212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53.1%</a:t>
            </a:r>
            <a:endParaRPr lang="en-US" sz="1400" dirty="0"/>
          </a:p>
        </p:txBody>
      </p:sp>
      <p:sp>
        <p:nvSpPr>
          <p:cNvPr id="19" name="Bug Unlabeled form inputs circle"/>
          <p:cNvSpPr/>
          <p:nvPr/>
        </p:nvSpPr>
        <p:spPr>
          <a:xfrm>
            <a:off x="4069080" y="2596896"/>
            <a:ext cx="310896" cy="310896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0" name="Bug Unlabeled form inputs icon" descr="Bug Unlabeled form inpu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804" y="2674620"/>
            <a:ext cx="155448" cy="155448"/>
          </a:xfrm>
          <a:prstGeom prst="rect">
            <a:avLst/>
          </a:prstGeom>
        </p:spPr>
      </p:pic>
      <p:sp>
        <p:nvSpPr>
          <p:cNvPr id="21" name="Bug text 2"/>
          <p:cNvSpPr txBox="1"/>
          <p:nvPr/>
        </p:nvSpPr>
        <p:spPr>
          <a:xfrm>
            <a:off x="4526280" y="25968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Unlabeled form inputs</a:t>
            </a:r>
            <a:endParaRPr lang="en-US" sz="1400" dirty="0"/>
          </a:p>
        </p:txBody>
      </p:sp>
      <p:sp>
        <p:nvSpPr>
          <p:cNvPr id="22" name="Bug pct 2"/>
          <p:cNvSpPr txBox="1"/>
          <p:nvPr/>
        </p:nvSpPr>
        <p:spPr>
          <a:xfrm>
            <a:off x="7589520" y="25968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51.0%</a:t>
            </a:r>
            <a:endParaRPr lang="en-US" sz="1400" dirty="0"/>
          </a:p>
        </p:txBody>
      </p:sp>
      <p:sp>
        <p:nvSpPr>
          <p:cNvPr id="23" name="Bug Empty links circle"/>
          <p:cNvSpPr/>
          <p:nvPr/>
        </p:nvSpPr>
        <p:spPr>
          <a:xfrm>
            <a:off x="4069080" y="2980944"/>
            <a:ext cx="310896" cy="310896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4" name="Bug Empty links icon" descr="Bug Empty lin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804" y="3058668"/>
            <a:ext cx="155448" cy="155448"/>
          </a:xfrm>
          <a:prstGeom prst="rect">
            <a:avLst/>
          </a:prstGeom>
        </p:spPr>
      </p:pic>
      <p:sp>
        <p:nvSpPr>
          <p:cNvPr id="25" name="Bug text 3"/>
          <p:cNvSpPr txBox="1"/>
          <p:nvPr/>
        </p:nvSpPr>
        <p:spPr>
          <a:xfrm>
            <a:off x="4526280" y="29809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Empty links</a:t>
            </a:r>
            <a:endParaRPr lang="en-US" sz="1400" dirty="0"/>
          </a:p>
        </p:txBody>
      </p:sp>
      <p:sp>
        <p:nvSpPr>
          <p:cNvPr id="26" name="Bug pct 3"/>
          <p:cNvSpPr txBox="1"/>
          <p:nvPr/>
        </p:nvSpPr>
        <p:spPr>
          <a:xfrm>
            <a:off x="7589520" y="29809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46.3%</a:t>
            </a:r>
            <a:endParaRPr lang="en-US" sz="1400" dirty="0"/>
          </a:p>
        </p:txBody>
      </p:sp>
      <p:sp>
        <p:nvSpPr>
          <p:cNvPr id="27" name="Bug Empty buttons circle"/>
          <p:cNvSpPr/>
          <p:nvPr/>
        </p:nvSpPr>
        <p:spPr>
          <a:xfrm>
            <a:off x="4069080" y="3364992"/>
            <a:ext cx="310896" cy="310896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8" name="Bug Empty buttons icon" descr="Bug Empty button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804" y="3442716"/>
            <a:ext cx="155448" cy="155448"/>
          </a:xfrm>
          <a:prstGeom prst="rect">
            <a:avLst/>
          </a:prstGeom>
        </p:spPr>
      </p:pic>
      <p:sp>
        <p:nvSpPr>
          <p:cNvPr id="29" name="Bug text 4"/>
          <p:cNvSpPr txBox="1"/>
          <p:nvPr/>
        </p:nvSpPr>
        <p:spPr>
          <a:xfrm>
            <a:off x="4526280" y="33649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Empty buttons</a:t>
            </a:r>
            <a:endParaRPr lang="en-US" sz="1400" dirty="0"/>
          </a:p>
        </p:txBody>
      </p:sp>
      <p:sp>
        <p:nvSpPr>
          <p:cNvPr id="30" name="Bug pct 4"/>
          <p:cNvSpPr txBox="1"/>
          <p:nvPr/>
        </p:nvSpPr>
        <p:spPr>
          <a:xfrm>
            <a:off x="7589520" y="33649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30.6%</a:t>
            </a:r>
            <a:endParaRPr lang="en-US" sz="1400" dirty="0"/>
          </a:p>
        </p:txBody>
      </p:sp>
      <p:sp>
        <p:nvSpPr>
          <p:cNvPr id="31" name="Bug pct caption"/>
          <p:cNvSpPr txBox="1"/>
          <p:nvPr/>
        </p:nvSpPr>
        <p:spPr>
          <a:xfrm>
            <a:off x="6675120" y="3749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% of home pages affected</a:t>
            </a:r>
            <a:endParaRPr lang="en-US" sz="1000" dirty="0"/>
          </a:p>
        </p:txBody>
      </p:sp>
      <p:sp>
        <p:nvSpPr>
          <p:cNvPr id="32" name="Law box"/>
          <p:cNvSpPr/>
          <p:nvPr/>
        </p:nvSpPr>
        <p:spPr>
          <a:xfrm>
            <a:off x="4069080" y="3977640"/>
            <a:ext cx="46177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33" name="Law circle"/>
          <p:cNvSpPr/>
          <p:nvPr/>
        </p:nvSpPr>
        <p:spPr>
          <a:xfrm>
            <a:off x="4187952" y="4078224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4" name="Law icon" descr="La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4169664"/>
            <a:ext cx="182880" cy="182880"/>
          </a:xfrm>
          <a:prstGeom prst="rect">
            <a:avLst/>
          </a:prstGeom>
        </p:spPr>
      </p:pic>
      <p:sp>
        <p:nvSpPr>
          <p:cNvPr id="35" name="Law text"/>
          <p:cNvSpPr txBox="1"/>
          <p:nvPr/>
        </p:nvSpPr>
        <p:spPr>
          <a:xfrm>
            <a:off x="4663440" y="39776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RPwD Act 2016 + GIGW 3.0 make it mandatory. Small teams have no specialist and no audit budget.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Why now</a:t>
            </a:r>
            <a:endParaRPr lang="en-US" sz="3600" dirty="0"/>
          </a:p>
        </p:txBody>
      </p:sp>
      <p:sp>
        <p:nvSpPr>
          <p:cNvPr id="3" name="Deliverable tag"/>
          <p:cNvSpPr/>
          <p:nvPr/>
        </p:nvSpPr>
        <p:spPr>
          <a:xfrm>
            <a:off x="6675120" y="420624"/>
            <a:ext cx="20116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Deliverable tag text"/>
          <p:cNvSpPr txBox="1"/>
          <p:nvPr/>
        </p:nvSpPr>
        <p:spPr>
          <a:xfrm>
            <a:off x="6675120" y="4206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 · Problem Statement</a:t>
            </a:r>
            <a:endParaRPr lang="en-US" sz="11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Mandates are rising, existing tools only report, and agents can finally repair.</a:t>
            </a:r>
            <a:endParaRPr lang="en-US" sz="1600" dirty="0"/>
          </a:p>
        </p:txBody>
      </p:sp>
      <p:sp>
        <p:nvSpPr>
          <p:cNvPr id="6" name="Why card 0"/>
          <p:cNvSpPr/>
          <p:nvPr/>
        </p:nvSpPr>
        <p:spPr>
          <a:xfrm>
            <a:off x="45720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7" name="Why Law demands it circle"/>
          <p:cNvSpPr/>
          <p:nvPr/>
        </p:nvSpPr>
        <p:spPr>
          <a:xfrm>
            <a:off x="685800" y="1664208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8" name="Why Law demands it icon" descr="Why Law demands 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789938"/>
            <a:ext cx="251460" cy="251460"/>
          </a:xfrm>
          <a:prstGeom prst="rect">
            <a:avLst/>
          </a:prstGeom>
        </p:spPr>
      </p:pic>
      <p:sp>
        <p:nvSpPr>
          <p:cNvPr id="9" name="Why head 0"/>
          <p:cNvSpPr txBox="1"/>
          <p:nvPr/>
        </p:nvSpPr>
        <p:spPr>
          <a:xfrm>
            <a:off x="685800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Law demands it</a:t>
            </a:r>
            <a:endParaRPr lang="en-US" sz="1700" dirty="0"/>
          </a:p>
        </p:txBody>
      </p:sp>
      <p:sp>
        <p:nvSpPr>
          <p:cNvPr id="10" name="Why body 0"/>
          <p:cNvSpPr txBox="1"/>
          <p:nvPr/>
        </p:nvSpPr>
        <p:spPr>
          <a:xfrm>
            <a:off x="685800" y="2670048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Nov 2024: SC orders mandatory accessibility rules. Apr 2025: SC holds digital access is part of Article 21.</a:t>
            </a:r>
            <a:endParaRPr lang="en-US" sz="1400" dirty="0"/>
          </a:p>
        </p:txBody>
      </p:sp>
      <p:sp>
        <p:nvSpPr>
          <p:cNvPr id="11" name="Why card 1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Why Tools only diagnose circle"/>
          <p:cNvSpPr/>
          <p:nvPr/>
        </p:nvSpPr>
        <p:spPr>
          <a:xfrm>
            <a:off x="3520440" y="1664208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3" name="Why Tools only diagnose icon" descr="Why Tools only diagno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1789938"/>
            <a:ext cx="251460" cy="251460"/>
          </a:xfrm>
          <a:prstGeom prst="rect">
            <a:avLst/>
          </a:prstGeom>
        </p:spPr>
      </p:pic>
      <p:sp>
        <p:nvSpPr>
          <p:cNvPr id="14" name="Why head 1"/>
          <p:cNvSpPr txBox="1"/>
          <p:nvPr/>
        </p:nvSpPr>
        <p:spPr>
          <a:xfrm>
            <a:off x="3520440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Tools only diagnose</a:t>
            </a:r>
            <a:endParaRPr lang="en-US" sz="1700" dirty="0"/>
          </a:p>
        </p:txBody>
      </p:sp>
      <p:sp>
        <p:nvSpPr>
          <p:cNvPr id="15" name="Why body 1"/>
          <p:cNvSpPr txBox="1"/>
          <p:nvPr/>
        </p:nvSpPr>
        <p:spPr>
          <a:xfrm>
            <a:off x="3520440" y="2670048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Lighthouse, WAVE and axe DevTools report problems. None of them repair your code.</a:t>
            </a:r>
            <a:endParaRPr lang="en-US" sz="1400" dirty="0"/>
          </a:p>
        </p:txBody>
      </p:sp>
      <p:sp>
        <p:nvSpPr>
          <p:cNvPr id="16" name="Why card 2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7" name="Why Agents can repair circle"/>
          <p:cNvSpPr/>
          <p:nvPr/>
        </p:nvSpPr>
        <p:spPr>
          <a:xfrm>
            <a:off x="6355080" y="16642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Why Agents can repair icon" descr="Why Agents can repa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89938"/>
            <a:ext cx="251460" cy="251460"/>
          </a:xfrm>
          <a:prstGeom prst="rect">
            <a:avLst/>
          </a:prstGeom>
        </p:spPr>
      </p:pic>
      <p:sp>
        <p:nvSpPr>
          <p:cNvPr id="19" name="Why head 2"/>
          <p:cNvSpPr txBox="1"/>
          <p:nvPr/>
        </p:nvSpPr>
        <p:spPr>
          <a:xfrm>
            <a:off x="6355080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Agents can repair</a:t>
            </a:r>
            <a:endParaRPr lang="en-US" sz="1700" dirty="0"/>
          </a:p>
        </p:txBody>
      </p:sp>
      <p:sp>
        <p:nvSpPr>
          <p:cNvPr id="20" name="Why body 2"/>
          <p:cNvSpPr txBox="1"/>
          <p:nvPr/>
        </p:nvSpPr>
        <p:spPr>
          <a:xfrm>
            <a:off x="6355080" y="2670048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Cline SDK embeds Cline's agent core in any app: read, edit, verify. Repair is finally automatable.</a:t>
            </a:r>
            <a:endParaRPr lang="en-US" sz="1400" dirty="0"/>
          </a:p>
        </p:txBody>
      </p:sp>
      <p:sp>
        <p:nvSpPr>
          <p:cNvPr id="21" name="Why banner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2" name="Why banner text"/>
          <p:cNvSpPr txBox="1"/>
          <p:nvPr/>
        </p:nvSpPr>
        <p:spPr>
          <a:xfrm>
            <a:off x="68580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Diagnosis was solved a decade ago. </a:t>
            </a:r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Repair was unsolvable until agents.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We sell to the builders</a:t>
            </a:r>
            <a:endParaRPr lang="en-US" sz="3600" dirty="0"/>
          </a:p>
        </p:txBody>
      </p:sp>
      <p:sp>
        <p:nvSpPr>
          <p:cNvPr id="3" name="Deliverable tag"/>
          <p:cNvSpPr/>
          <p:nvPr/>
        </p:nvSpPr>
        <p:spPr>
          <a:xfrm>
            <a:off x="6675120" y="420624"/>
            <a:ext cx="20116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Deliverable tag text"/>
          <p:cNvSpPr txBox="1"/>
          <p:nvPr/>
        </p:nvSpPr>
        <p:spPr>
          <a:xfrm>
            <a:off x="6675120" y="4206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 · Target Audience</a:t>
            </a:r>
            <a:endParaRPr lang="en-US" sz="11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Developers adopt AutoA11y. People with disabilities benefit.</a:t>
            </a:r>
            <a:endParaRPr lang="en-US" sz="1600" dirty="0"/>
          </a:p>
        </p:txBody>
      </p:sp>
      <p:sp>
        <p:nvSpPr>
          <p:cNvPr id="6" name="Persona card"/>
          <p:cNvSpPr/>
          <p:nvPr/>
        </p:nvSpPr>
        <p:spPr>
          <a:xfrm>
            <a:off x="457200" y="1463040"/>
            <a:ext cx="3931920" cy="3063240"/>
          </a:xfrm>
          <a:prstGeom prst="roundRect">
            <a:avLst>
              <a:gd name="adj" fmla="val 358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Persona circle"/>
          <p:cNvSpPr/>
          <p:nvPr/>
        </p:nvSpPr>
        <p:spPr>
          <a:xfrm>
            <a:off x="73152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Persona icon" descr="Perso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863090"/>
            <a:ext cx="342900" cy="342900"/>
          </a:xfrm>
          <a:prstGeom prst="rect">
            <a:avLst/>
          </a:prstGeom>
        </p:spPr>
      </p:pic>
      <p:sp>
        <p:nvSpPr>
          <p:cNvPr id="9" name="Persona name"/>
          <p:cNvSpPr txBox="1"/>
          <p:nvPr/>
        </p:nvSpPr>
        <p:spPr>
          <a:xfrm>
            <a:off x="1600200" y="1691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Rohit, 26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Freelance developer · Indore</a:t>
            </a:r>
            <a:endParaRPr lang="en-US" sz="2200" dirty="0"/>
          </a:p>
        </p:txBody>
      </p:sp>
      <p:sp>
        <p:nvSpPr>
          <p:cNvPr id="10" name="Persona bullets"/>
          <p:cNvSpPr txBox="1"/>
          <p:nvPr/>
        </p:nvSpPr>
        <p:spPr>
          <a:xfrm>
            <a:off x="731520" y="2606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12 client sites in React and plain HTML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client just asked for GIGW compliance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accessibility training, no time to learn WCAG</a:t>
            </a:r>
            <a:endParaRPr lang="en-US" sz="1400" dirty="0"/>
          </a:p>
        </p:txBody>
      </p:sp>
      <p:sp>
        <p:nvSpPr>
          <p:cNvPr id="11" name="Persona quote"/>
          <p:cNvSpPr txBox="1"/>
          <p:nvPr/>
        </p:nvSpPr>
        <p:spPr>
          <a:xfrm>
            <a:off x="73152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“I need it compliant by Friday.”</a:t>
            </a:r>
            <a:endParaRPr lang="en-US" sz="1500" dirty="0"/>
          </a:p>
        </p:txBody>
      </p:sp>
      <p:sp>
        <p:nvSpPr>
          <p:cNvPr id="12" name="Audience Primary users circle"/>
          <p:cNvSpPr/>
          <p:nvPr/>
        </p:nvSpPr>
        <p:spPr>
          <a:xfrm>
            <a:off x="4709160" y="150876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3" name="Audience Primary users icon" descr="Audience Primary 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1623060"/>
            <a:ext cx="228600" cy="228600"/>
          </a:xfrm>
          <a:prstGeom prst="rect">
            <a:avLst/>
          </a:prstGeom>
        </p:spPr>
      </p:pic>
      <p:sp>
        <p:nvSpPr>
          <p:cNvPr id="14" name="Aud head 0"/>
          <p:cNvSpPr txBox="1"/>
          <p:nvPr/>
        </p:nvSpPr>
        <p:spPr>
          <a:xfrm>
            <a:off x="530352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Primary users</a:t>
            </a:r>
            <a:endParaRPr lang="en-US" sz="1600" dirty="0"/>
          </a:p>
        </p:txBody>
      </p:sp>
      <p:sp>
        <p:nvSpPr>
          <p:cNvPr id="15" name="Aud body 0"/>
          <p:cNvSpPr txBox="1"/>
          <p:nvPr/>
        </p:nvSpPr>
        <p:spPr>
          <a:xfrm>
            <a:off x="5303520" y="17739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Freelancers, small agencies and IT vendors running government portals</a:t>
            </a:r>
            <a:endParaRPr lang="en-US" sz="1400" dirty="0"/>
          </a:p>
        </p:txBody>
      </p:sp>
      <p:sp>
        <p:nvSpPr>
          <p:cNvPr id="16" name="Audience Beneficiaries circle"/>
          <p:cNvSpPr/>
          <p:nvPr/>
        </p:nvSpPr>
        <p:spPr>
          <a:xfrm>
            <a:off x="4709160" y="256032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7" name="Audience Beneficiaries icon" descr="Audience Beneficiari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60" y="2674620"/>
            <a:ext cx="228600" cy="228600"/>
          </a:xfrm>
          <a:prstGeom prst="rect">
            <a:avLst/>
          </a:prstGeom>
        </p:spPr>
      </p:pic>
      <p:sp>
        <p:nvSpPr>
          <p:cNvPr id="18" name="Aud head 1"/>
          <p:cNvSpPr txBox="1"/>
          <p:nvPr/>
        </p:nvSpPr>
        <p:spPr>
          <a:xfrm>
            <a:off x="5303520" y="2514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Beneficiaries</a:t>
            </a:r>
            <a:endParaRPr lang="en-US" sz="1600" dirty="0"/>
          </a:p>
        </p:txBody>
      </p:sp>
      <p:sp>
        <p:nvSpPr>
          <p:cNvPr id="19" name="Aud body 1"/>
          <p:cNvSpPr txBox="1"/>
          <p:nvPr/>
        </p:nvSpPr>
        <p:spPr>
          <a:xfrm>
            <a:off x="5303520" y="282549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2.68 crore Indians with disabilities (Census 2011), plus elderly users</a:t>
            </a:r>
            <a:endParaRPr lang="en-US" sz="1400" dirty="0"/>
          </a:p>
        </p:txBody>
      </p:sp>
      <p:sp>
        <p:nvSpPr>
          <p:cNvPr id="20" name="Audience Market wedge circle"/>
          <p:cNvSpPr/>
          <p:nvPr/>
        </p:nvSpPr>
        <p:spPr>
          <a:xfrm>
            <a:off x="4709160" y="361188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1" name="Audience Market wedge icon" descr="Audience Market wed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3726180"/>
            <a:ext cx="228600" cy="228600"/>
          </a:xfrm>
          <a:prstGeom prst="rect">
            <a:avLst/>
          </a:prstGeom>
        </p:spPr>
      </p:pic>
      <p:sp>
        <p:nvSpPr>
          <p:cNvPr id="22" name="Aud head 2"/>
          <p:cNvSpPr txBox="1"/>
          <p:nvPr/>
        </p:nvSpPr>
        <p:spPr>
          <a:xfrm>
            <a:off x="5303520" y="3566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Market wedge</a:t>
            </a:r>
            <a:endParaRPr lang="en-US" sz="1600" dirty="0"/>
          </a:p>
        </p:txBody>
      </p:sp>
      <p:sp>
        <p:nvSpPr>
          <p:cNvPr id="23" name="Aud body 2"/>
          <p:cNvSpPr txBox="1"/>
          <p:nvPr/>
        </p:nvSpPr>
        <p:spPr>
          <a:xfrm>
            <a:off x="5303520" y="38770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Compliance demand from government tenders and contracts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Two modes, one promise</a:t>
            </a:r>
            <a:endParaRPr lang="en-US" sz="3600" dirty="0"/>
          </a:p>
        </p:txBody>
      </p:sp>
      <p:sp>
        <p:nvSpPr>
          <p:cNvPr id="3" name="Deliverable tag"/>
          <p:cNvSpPr/>
          <p:nvPr/>
        </p:nvSpPr>
        <p:spPr>
          <a:xfrm>
            <a:off x="6675120" y="420624"/>
            <a:ext cx="20116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Deliverable tag text"/>
          <p:cNvSpPr txBox="1"/>
          <p:nvPr/>
        </p:nvSpPr>
        <p:spPr>
          <a:xfrm>
            <a:off x="6675120" y="4206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 · Solution &amp; Features</a:t>
            </a:r>
            <a:endParaRPr lang="en-US" sz="11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Turns a multi-week manual audit into a reviewable pull request in minutes.</a:t>
            </a:r>
            <a:endParaRPr lang="en-US" sz="1600" dirty="0"/>
          </a:p>
        </p:txBody>
      </p:sp>
      <p:sp>
        <p:nvSpPr>
          <p:cNvPr id="6" name="Scan mode card"/>
          <p:cNvSpPr/>
          <p:nvPr/>
        </p:nvSpPr>
        <p:spPr>
          <a:xfrm>
            <a:off x="457200" y="1463040"/>
            <a:ext cx="40233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7" name="Scan mode circle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Scan mode icon" descr="Scan m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771650"/>
            <a:ext cx="251460" cy="251460"/>
          </a:xfrm>
          <a:prstGeom prst="rect">
            <a:avLst/>
          </a:prstGeom>
        </p:spPr>
      </p:pic>
      <p:sp>
        <p:nvSpPr>
          <p:cNvPr id="9" name="Scan mode title"/>
          <p:cNvSpPr txBox="1"/>
          <p:nvPr/>
        </p:nvSpPr>
        <p:spPr>
          <a:xfrm>
            <a:off x="132588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Scan mode</a:t>
            </a:r>
            <a:endParaRPr lang="en-US" sz="2000" dirty="0"/>
          </a:p>
        </p:txBody>
      </p:sp>
      <p:sp>
        <p:nvSpPr>
          <p:cNvPr id="10" name="Scan mode tag"/>
          <p:cNvSpPr/>
          <p:nvPr/>
        </p:nvSpPr>
        <p:spPr>
          <a:xfrm>
            <a:off x="3474720" y="1755648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1" name="Scan mode tag text"/>
          <p:cNvSpPr txBox="1"/>
          <p:nvPr/>
        </p:nvSpPr>
        <p:spPr>
          <a:xfrm>
            <a:off x="3474720" y="17556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URL</a:t>
            </a:r>
            <a:endParaRPr lang="en-US" sz="1100" dirty="0"/>
          </a:p>
        </p:txBody>
      </p:sp>
      <p:sp>
        <p:nvSpPr>
          <p:cNvPr id="12" name="Scan mode bullets"/>
          <p:cNvSpPr txBox="1"/>
          <p:nvPr/>
        </p:nvSpPr>
        <p:spPr>
          <a:xfrm>
            <a:off x="731520" y="23317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Audit any public site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Ranked violation report + Lighthouse score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Zero setup: the free entry point</a:t>
            </a:r>
            <a:endParaRPr lang="en-US" sz="1400" dirty="0"/>
          </a:p>
        </p:txBody>
      </p:sp>
      <p:sp>
        <p:nvSpPr>
          <p:cNvPr id="13" name="Fix mode card"/>
          <p:cNvSpPr/>
          <p:nvPr/>
        </p:nvSpPr>
        <p:spPr>
          <a:xfrm>
            <a:off x="4663440" y="1463040"/>
            <a:ext cx="4023360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Fix mode circle"/>
          <p:cNvSpPr/>
          <p:nvPr/>
        </p:nvSpPr>
        <p:spPr>
          <a:xfrm>
            <a:off x="489204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ix mode icon" descr="Fix m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771650"/>
            <a:ext cx="251460" cy="251460"/>
          </a:xfrm>
          <a:prstGeom prst="rect">
            <a:avLst/>
          </a:prstGeom>
        </p:spPr>
      </p:pic>
      <p:sp>
        <p:nvSpPr>
          <p:cNvPr id="16" name="Fix mode title"/>
          <p:cNvSpPr txBox="1"/>
          <p:nvPr/>
        </p:nvSpPr>
        <p:spPr>
          <a:xfrm>
            <a:off x="553212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Fix mode</a:t>
            </a:r>
            <a:endParaRPr lang="en-US" sz="2000" dirty="0"/>
          </a:p>
        </p:txBody>
      </p:sp>
      <p:sp>
        <p:nvSpPr>
          <p:cNvPr id="17" name="Fix mode tag"/>
          <p:cNvSpPr/>
          <p:nvPr/>
        </p:nvSpPr>
        <p:spPr>
          <a:xfrm>
            <a:off x="7680960" y="1755648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Fix mode tag text"/>
          <p:cNvSpPr txBox="1"/>
          <p:nvPr/>
        </p:nvSpPr>
        <p:spPr>
          <a:xfrm>
            <a:off x="7680960" y="17556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REPO</a:t>
            </a:r>
            <a:endParaRPr lang="en-US" sz="1100" dirty="0"/>
          </a:p>
        </p:txBody>
      </p:sp>
      <p:sp>
        <p:nvSpPr>
          <p:cNvPr id="19" name="Fix mode bullets"/>
          <p:cNvSpPr txBox="1"/>
          <p:nvPr/>
        </p:nvSpPr>
        <p:spPr>
          <a:xfrm>
            <a:off x="4937760" y="23317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Cline SDK agent patches the source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Re-audits until machine-checkable violations hit zero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Every change shown as a reviewable diff</a:t>
            </a:r>
            <a:endParaRPr lang="en-US" sz="1400" dirty="0"/>
          </a:p>
        </p:txBody>
      </p:sp>
      <p:sp>
        <p:nvSpPr>
          <p:cNvPr id="20" name="Honesty strip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1" name="Honesty stat"/>
          <p:cNvSpPr txBox="1"/>
          <p:nvPr/>
        </p:nvSpPr>
        <p:spPr>
          <a:xfrm>
            <a:off x="685800" y="3794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~57%</a:t>
            </a:r>
            <a:endParaRPr lang="en-US" sz="3000" dirty="0"/>
          </a:p>
        </p:txBody>
      </p:sp>
      <p:sp>
        <p:nvSpPr>
          <p:cNvPr id="22" name="Honesty text"/>
          <p:cNvSpPr txBox="1"/>
          <p:nvPr/>
        </p:nvSpPr>
        <p:spPr>
          <a:xfrm>
            <a:off x="1965960" y="37947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accessibility issues are caught by automated testing (Deque, 13,000+ pages). We fix that share completely and flag the rest for human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features, all verifiable</a:t>
            </a:r>
            <a:endParaRPr lang="en-US" sz="3600" dirty="0"/>
          </a:p>
        </p:txBody>
      </p:sp>
      <p:sp>
        <p:nvSpPr>
          <p:cNvPr id="3" name="Deliverable tag"/>
          <p:cNvSpPr/>
          <p:nvPr/>
        </p:nvSpPr>
        <p:spPr>
          <a:xfrm>
            <a:off x="6675120" y="420624"/>
            <a:ext cx="20116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Deliverable tag text"/>
          <p:cNvSpPr txBox="1"/>
          <p:nvPr/>
        </p:nvSpPr>
        <p:spPr>
          <a:xfrm>
            <a:off x="6675120" y="4206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 · Solution &amp; Features</a:t>
            </a:r>
            <a:endParaRPr lang="en-US" sz="11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Every feature produces evidence. No claim requires trust.</a:t>
            </a:r>
            <a:endParaRPr lang="en-US" sz="1600" dirty="0"/>
          </a:p>
        </p:txBody>
      </p:sp>
      <p:sp>
        <p:nvSpPr>
          <p:cNvPr id="6" name="Feature card 0"/>
          <p:cNvSpPr/>
          <p:nvPr/>
        </p:nvSpPr>
        <p:spPr>
          <a:xfrm>
            <a:off x="457200" y="150876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7" name="Feature num bg 0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Feature num 0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Feature head 0"/>
          <p:cNvSpPr txBox="1"/>
          <p:nvPr/>
        </p:nvSpPr>
        <p:spPr>
          <a:xfrm>
            <a:off x="640080" y="2331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Audit engine</a:t>
            </a:r>
            <a:endParaRPr lang="en-US" sz="1600" dirty="0"/>
          </a:p>
        </p:txBody>
      </p:sp>
      <p:sp>
        <p:nvSpPr>
          <p:cNvPr id="10" name="Feature body 0"/>
          <p:cNvSpPr txBox="1"/>
          <p:nvPr/>
        </p:nvSpPr>
        <p:spPr>
          <a:xfrm>
            <a:off x="640080" y="274320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axe-core in headless Playwright: violations with CSS selectors, plus a Lighthouse score</a:t>
            </a:r>
            <a:endParaRPr lang="en-US" sz="1400" dirty="0"/>
          </a:p>
        </p:txBody>
      </p:sp>
      <p:sp>
        <p:nvSpPr>
          <p:cNvPr id="11" name="Feature arrow 0"/>
          <p:cNvSpPr/>
          <p:nvPr/>
        </p:nvSpPr>
        <p:spPr>
          <a:xfrm>
            <a:off x="2340864" y="2770632"/>
            <a:ext cx="201168" cy="21945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2" name="Feature card 1"/>
          <p:cNvSpPr/>
          <p:nvPr/>
        </p:nvSpPr>
        <p:spPr>
          <a:xfrm>
            <a:off x="2587752" y="150876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Feature num bg 1"/>
          <p:cNvSpPr/>
          <p:nvPr/>
        </p:nvSpPr>
        <p:spPr>
          <a:xfrm>
            <a:off x="2770632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Feature num 1"/>
          <p:cNvSpPr txBox="1"/>
          <p:nvPr/>
        </p:nvSpPr>
        <p:spPr>
          <a:xfrm>
            <a:off x="277063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Feature head 1"/>
          <p:cNvSpPr txBox="1"/>
          <p:nvPr/>
        </p:nvSpPr>
        <p:spPr>
          <a:xfrm>
            <a:off x="2770632" y="2331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Agentic fix loop</a:t>
            </a:r>
            <a:endParaRPr lang="en-US" sz="1600" dirty="0"/>
          </a:p>
        </p:txBody>
      </p:sp>
      <p:sp>
        <p:nvSpPr>
          <p:cNvPr id="16" name="Feature body 1"/>
          <p:cNvSpPr txBox="1"/>
          <p:nvPr/>
        </p:nvSpPr>
        <p:spPr>
          <a:xfrm>
            <a:off x="2770632" y="274320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Cline SDK agent maps each violation to source, patches, re-audits. Max 5 loops.</a:t>
            </a:r>
            <a:endParaRPr lang="en-US" sz="1400" dirty="0"/>
          </a:p>
        </p:txBody>
      </p:sp>
      <p:sp>
        <p:nvSpPr>
          <p:cNvPr id="17" name="Feature arrow 1"/>
          <p:cNvSpPr/>
          <p:nvPr/>
        </p:nvSpPr>
        <p:spPr>
          <a:xfrm>
            <a:off x="4471416" y="2770632"/>
            <a:ext cx="201168" cy="21945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8" name="Feature card 2"/>
          <p:cNvSpPr/>
          <p:nvPr/>
        </p:nvSpPr>
        <p:spPr>
          <a:xfrm>
            <a:off x="4718304" y="150876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9" name="Feature num bg 2"/>
          <p:cNvSpPr/>
          <p:nvPr/>
        </p:nvSpPr>
        <p:spPr>
          <a:xfrm>
            <a:off x="4901184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Feature num 2"/>
          <p:cNvSpPr txBox="1"/>
          <p:nvPr/>
        </p:nvSpPr>
        <p:spPr>
          <a:xfrm>
            <a:off x="490118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Feature head 2"/>
          <p:cNvSpPr txBox="1"/>
          <p:nvPr/>
        </p:nvSpPr>
        <p:spPr>
          <a:xfrm>
            <a:off x="4901184" y="2331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Diff viewer</a:t>
            </a:r>
            <a:endParaRPr lang="en-US" sz="1600" dirty="0"/>
          </a:p>
        </p:txBody>
      </p:sp>
      <p:sp>
        <p:nvSpPr>
          <p:cNvPr id="22" name="Feature body 2"/>
          <p:cNvSpPr txBox="1"/>
          <p:nvPr/>
        </p:nvSpPr>
        <p:spPr>
          <a:xfrm>
            <a:off x="4901184" y="274320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 change line by line, GitHub-style. Nothing hidden.</a:t>
            </a:r>
            <a:endParaRPr lang="en-US" sz="1400" dirty="0"/>
          </a:p>
        </p:txBody>
      </p:sp>
      <p:sp>
        <p:nvSpPr>
          <p:cNvPr id="23" name="Feature arrow 2"/>
          <p:cNvSpPr/>
          <p:nvPr/>
        </p:nvSpPr>
        <p:spPr>
          <a:xfrm>
            <a:off x="6601968" y="2770632"/>
            <a:ext cx="201168" cy="21945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4" name="Feature card 3"/>
          <p:cNvSpPr/>
          <p:nvPr/>
        </p:nvSpPr>
        <p:spPr>
          <a:xfrm>
            <a:off x="6848856" y="150876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5" name="Feature num bg 3"/>
          <p:cNvSpPr/>
          <p:nvPr/>
        </p:nvSpPr>
        <p:spPr>
          <a:xfrm>
            <a:off x="7031736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Feature num 3"/>
          <p:cNvSpPr txBox="1"/>
          <p:nvPr/>
        </p:nvSpPr>
        <p:spPr>
          <a:xfrm>
            <a:off x="703173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Feature head 3"/>
          <p:cNvSpPr txBox="1"/>
          <p:nvPr/>
        </p:nvSpPr>
        <p:spPr>
          <a:xfrm>
            <a:off x="7031736" y="2331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Score comparison</a:t>
            </a:r>
            <a:endParaRPr lang="en-US" sz="1600" dirty="0"/>
          </a:p>
        </p:txBody>
      </p:sp>
      <p:sp>
        <p:nvSpPr>
          <p:cNvPr id="28" name="Feature body 3"/>
          <p:cNvSpPr txBox="1"/>
          <p:nvPr/>
        </p:nvSpPr>
        <p:spPr>
          <a:xfrm>
            <a:off x="7031736" y="274320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Before/after Lighthouse score and violation count by category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loop at the core</a:t>
            </a:r>
            <a:endParaRPr lang="en-US" sz="3600" dirty="0"/>
          </a:p>
        </p:txBody>
      </p:sp>
      <p:sp>
        <p:nvSpPr>
          <p:cNvPr id="3" name="Deliverable tag"/>
          <p:cNvSpPr/>
          <p:nvPr/>
        </p:nvSpPr>
        <p:spPr>
          <a:xfrm>
            <a:off x="6675120" y="420624"/>
            <a:ext cx="20116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Deliverable tag text"/>
          <p:cNvSpPr txBox="1"/>
          <p:nvPr/>
        </p:nvSpPr>
        <p:spPr>
          <a:xfrm>
            <a:off x="6675120" y="4206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 · Architecture &amp; Cline</a:t>
            </a:r>
            <a:endParaRPr lang="en-US" sz="11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 Cline SDK agent and our audit tool iterate until violations pass; results flow to the UI.</a:t>
            </a:r>
            <a:endParaRPr lang="en-US" sz="1600" dirty="0"/>
          </a:p>
        </p:txBody>
      </p:sp>
      <p:sp>
        <p:nvSpPr>
          <p:cNvPr id="6" name="Arch Repo"/>
          <p:cNvSpPr/>
          <p:nvPr/>
        </p:nvSpPr>
        <p:spPr>
          <a:xfrm>
            <a:off x="457200" y="1463040"/>
            <a:ext cx="16002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7" name="Arch label Repo"/>
          <p:cNvSpPr txBox="1"/>
          <p:nvPr/>
        </p:nvSpPr>
        <p:spPr>
          <a:xfrm>
            <a:off x="566928" y="146304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user's code</a:t>
            </a:r>
            <a:endParaRPr lang="en-US" sz="1400" dirty="0"/>
          </a:p>
        </p:txBody>
      </p:sp>
      <p:sp>
        <p:nvSpPr>
          <p:cNvPr id="8" name="Arrow r1"/>
          <p:cNvSpPr/>
          <p:nvPr/>
        </p:nvSpPr>
        <p:spPr>
          <a:xfrm>
            <a:off x="2075688" y="1851660"/>
            <a:ext cx="301752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Arch Sandbox clone"/>
          <p:cNvSpPr/>
          <p:nvPr/>
        </p:nvSpPr>
        <p:spPr>
          <a:xfrm>
            <a:off x="2395728" y="1463040"/>
            <a:ext cx="17373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0" name="Arch label Sandbox clone"/>
          <p:cNvSpPr txBox="1"/>
          <p:nvPr/>
        </p:nvSpPr>
        <p:spPr>
          <a:xfrm>
            <a:off x="2505456" y="1463040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Sandbox clone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isolated workspace</a:t>
            </a:r>
            <a:endParaRPr lang="en-US" sz="1400" dirty="0"/>
          </a:p>
        </p:txBody>
      </p:sp>
      <p:sp>
        <p:nvSpPr>
          <p:cNvPr id="11" name="Arrow r2"/>
          <p:cNvSpPr/>
          <p:nvPr/>
        </p:nvSpPr>
        <p:spPr>
          <a:xfrm>
            <a:off x="4151376" y="1851660"/>
            <a:ext cx="301752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Arch Baseline audit"/>
          <p:cNvSpPr/>
          <p:nvPr/>
        </p:nvSpPr>
        <p:spPr>
          <a:xfrm>
            <a:off x="4471416" y="1463040"/>
            <a:ext cx="18745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3" name="Arch label Baseline audit"/>
          <p:cNvSpPr txBox="1"/>
          <p:nvPr/>
        </p:nvSpPr>
        <p:spPr>
          <a:xfrm>
            <a:off x="4581144" y="146304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Baseline audit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Playwright + axe-core</a:t>
            </a:r>
            <a:endParaRPr lang="en-US" sz="1400" dirty="0"/>
          </a:p>
        </p:txBody>
      </p:sp>
      <p:sp>
        <p:nvSpPr>
          <p:cNvPr id="14" name="Arrow r3"/>
          <p:cNvSpPr/>
          <p:nvPr/>
        </p:nvSpPr>
        <p:spPr>
          <a:xfrm>
            <a:off x="6364224" y="1851660"/>
            <a:ext cx="301752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Arch Cline SDK agent"/>
          <p:cNvSpPr/>
          <p:nvPr/>
        </p:nvSpPr>
        <p:spPr>
          <a:xfrm>
            <a:off x="6684264" y="1463040"/>
            <a:ext cx="2002536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Arch label Cline SDK agent"/>
          <p:cNvSpPr txBox="1"/>
          <p:nvPr/>
        </p:nvSpPr>
        <p:spPr>
          <a:xfrm>
            <a:off x="6793992" y="14630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Cline SDK agent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@cline/sdk · file + shell tools</a:t>
            </a:r>
            <a:endParaRPr lang="en-US" sz="1400" dirty="0"/>
          </a:p>
        </p:txBody>
      </p:sp>
      <p:sp>
        <p:nvSpPr>
          <p:cNvPr id="17" name="Loop down"/>
          <p:cNvSpPr/>
          <p:nvPr/>
        </p:nvSpPr>
        <p:spPr>
          <a:xfrm>
            <a:off x="7498080" y="2258568"/>
            <a:ext cx="0" cy="54864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Loop up"/>
          <p:cNvSpPr/>
          <p:nvPr/>
        </p:nvSpPr>
        <p:spPr>
          <a:xfrm>
            <a:off x="7863840" y="2258568"/>
            <a:ext cx="0" cy="54864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19" name="Loop label"/>
          <p:cNvSpPr txBox="1"/>
          <p:nvPr/>
        </p:nvSpPr>
        <p:spPr>
          <a:xfrm>
            <a:off x="5120640" y="2377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loop until pass, max 5×</a:t>
            </a:r>
            <a:endParaRPr lang="en-US" sz="1100" dirty="0"/>
          </a:p>
        </p:txBody>
      </p:sp>
      <p:sp>
        <p:nvSpPr>
          <p:cNvPr id="20" name="Arch run_audit"/>
          <p:cNvSpPr/>
          <p:nvPr/>
        </p:nvSpPr>
        <p:spPr>
          <a:xfrm>
            <a:off x="6684264" y="2834640"/>
            <a:ext cx="2002536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Arch label run_audit"/>
          <p:cNvSpPr txBox="1"/>
          <p:nvPr/>
        </p:nvSpPr>
        <p:spPr>
          <a:xfrm>
            <a:off x="6793992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run_audit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custom tool via createTool</a:t>
            </a:r>
            <a:endParaRPr lang="en-US" sz="1400" dirty="0"/>
          </a:p>
        </p:txBody>
      </p:sp>
      <p:sp>
        <p:nvSpPr>
          <p:cNvPr id="22" name="Arrow r4"/>
          <p:cNvSpPr/>
          <p:nvPr/>
        </p:nvSpPr>
        <p:spPr>
          <a:xfrm>
            <a:off x="6364224" y="3223260"/>
            <a:ext cx="301752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headEnd type="triangle"/>
          </a:ln>
        </p:spPr>
      </p:sp>
      <p:sp>
        <p:nvSpPr>
          <p:cNvPr id="23" name="Arch Final audit"/>
          <p:cNvSpPr/>
          <p:nvPr/>
        </p:nvSpPr>
        <p:spPr>
          <a:xfrm>
            <a:off x="4471416" y="2834640"/>
            <a:ext cx="18745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4" name="Arch label Final audit"/>
          <p:cNvSpPr txBox="1"/>
          <p:nvPr/>
        </p:nvSpPr>
        <p:spPr>
          <a:xfrm>
            <a:off x="4581144" y="283464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Final audit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Lighthouse score</a:t>
            </a:r>
            <a:endParaRPr lang="en-US" sz="1400" dirty="0"/>
          </a:p>
        </p:txBody>
      </p:sp>
      <p:sp>
        <p:nvSpPr>
          <p:cNvPr id="25" name="Arrow r5"/>
          <p:cNvSpPr/>
          <p:nvPr/>
        </p:nvSpPr>
        <p:spPr>
          <a:xfrm>
            <a:off x="4151376" y="3223260"/>
            <a:ext cx="301752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headEnd type="triangle"/>
          </a:ln>
        </p:spPr>
      </p:sp>
      <p:sp>
        <p:nvSpPr>
          <p:cNvPr id="26" name="Arch Diff + score UI"/>
          <p:cNvSpPr/>
          <p:nvPr/>
        </p:nvSpPr>
        <p:spPr>
          <a:xfrm>
            <a:off x="2395728" y="2834640"/>
            <a:ext cx="17373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7" name="Arch label Diff + score UI"/>
          <p:cNvSpPr txBox="1"/>
          <p:nvPr/>
        </p:nvSpPr>
        <p:spPr>
          <a:xfrm>
            <a:off x="2505456" y="2834640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Diff + score UI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React viewer</a:t>
            </a:r>
            <a:endParaRPr lang="en-US" sz="1400" dirty="0"/>
          </a:p>
        </p:txBody>
      </p:sp>
      <p:sp>
        <p:nvSpPr>
          <p:cNvPr id="28" name="Arrow r6"/>
          <p:cNvSpPr/>
          <p:nvPr/>
        </p:nvSpPr>
        <p:spPr>
          <a:xfrm>
            <a:off x="2075688" y="3223260"/>
            <a:ext cx="301752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headEnd type="triangle"/>
          </a:ln>
        </p:spPr>
      </p:sp>
      <p:sp>
        <p:nvSpPr>
          <p:cNvPr id="29" name="Arch Dev review"/>
          <p:cNvSpPr/>
          <p:nvPr/>
        </p:nvSpPr>
        <p:spPr>
          <a:xfrm>
            <a:off x="457200" y="2834640"/>
            <a:ext cx="16002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30" name="Arch label Dev review"/>
          <p:cNvSpPr txBox="1"/>
          <p:nvPr/>
        </p:nvSpPr>
        <p:spPr>
          <a:xfrm>
            <a:off x="566928" y="283464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Dev review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approve + merge</a:t>
            </a:r>
            <a:endParaRPr lang="en-US" sz="1400" dirty="0"/>
          </a:p>
        </p:txBody>
      </p:sp>
      <p:sp>
        <p:nvSpPr>
          <p:cNvPr id="31" name="Stack label"/>
          <p:cNvSpPr txBox="1"/>
          <p:nvPr/>
        </p:nvSpPr>
        <p:spPr>
          <a:xfrm>
            <a:off x="45720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STACK</a:t>
            </a:r>
            <a:endParaRPr lang="en-US" sz="1000" dirty="0"/>
          </a:p>
        </p:txBody>
      </p:sp>
      <p:sp>
        <p:nvSpPr>
          <p:cNvPr id="32" name="Stack chip 0"/>
          <p:cNvSpPr/>
          <p:nvPr/>
        </p:nvSpPr>
        <p:spPr>
          <a:xfrm>
            <a:off x="457200" y="4114800"/>
            <a:ext cx="160020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Stack text 0"/>
          <p:cNvSpPr txBox="1"/>
          <p:nvPr/>
        </p:nvSpPr>
        <p:spPr>
          <a:xfrm>
            <a:off x="457200" y="4114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React + Vite + Tailwind</a:t>
            </a:r>
            <a:endParaRPr lang="en-US" sz="1100" dirty="0"/>
          </a:p>
        </p:txBody>
      </p:sp>
      <p:sp>
        <p:nvSpPr>
          <p:cNvPr id="34" name="Stack chip 1"/>
          <p:cNvSpPr/>
          <p:nvPr/>
        </p:nvSpPr>
        <p:spPr>
          <a:xfrm>
            <a:off x="2148840" y="411480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Stack text 1"/>
          <p:cNvSpPr txBox="1"/>
          <p:nvPr/>
        </p:nvSpPr>
        <p:spPr>
          <a:xfrm>
            <a:off x="2148840" y="41148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Node 22 + Express</a:t>
            </a:r>
            <a:endParaRPr lang="en-US" sz="1100" dirty="0"/>
          </a:p>
        </p:txBody>
      </p:sp>
      <p:sp>
        <p:nvSpPr>
          <p:cNvPr id="36" name="Stack chip 2"/>
          <p:cNvSpPr/>
          <p:nvPr/>
        </p:nvSpPr>
        <p:spPr>
          <a:xfrm>
            <a:off x="3566160" y="4114800"/>
            <a:ext cx="146304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Stack text 2"/>
          <p:cNvSpPr txBox="1"/>
          <p:nvPr/>
        </p:nvSpPr>
        <p:spPr>
          <a:xfrm>
            <a:off x="3566160" y="4114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Playwright + axe-core</a:t>
            </a:r>
            <a:endParaRPr lang="en-US" sz="1100" dirty="0"/>
          </a:p>
        </p:txBody>
      </p:sp>
      <p:sp>
        <p:nvSpPr>
          <p:cNvPr id="38" name="Stack chip 3"/>
          <p:cNvSpPr/>
          <p:nvPr/>
        </p:nvSpPr>
        <p:spPr>
          <a:xfrm>
            <a:off x="5120640" y="4114800"/>
            <a:ext cx="96012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Stack text 3"/>
          <p:cNvSpPr txBox="1"/>
          <p:nvPr/>
        </p:nvSpPr>
        <p:spPr>
          <a:xfrm>
            <a:off x="5120640" y="41148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Lighthouse</a:t>
            </a:r>
            <a:endParaRPr lang="en-US" sz="1100" dirty="0"/>
          </a:p>
        </p:txBody>
      </p:sp>
      <p:sp>
        <p:nvSpPr>
          <p:cNvPr id="40" name="Stack chip 4"/>
          <p:cNvSpPr/>
          <p:nvPr/>
        </p:nvSpPr>
        <p:spPr>
          <a:xfrm>
            <a:off x="6172200" y="411480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Stack text 4"/>
          <p:cNvSpPr txBox="1"/>
          <p:nvPr/>
        </p:nvSpPr>
        <p:spPr>
          <a:xfrm>
            <a:off x="6172200" y="41148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@cline/sdk</a:t>
            </a:r>
            <a:endParaRPr lang="en-US" sz="1100" dirty="0"/>
          </a:p>
        </p:txBody>
      </p:sp>
      <p:sp>
        <p:nvSpPr>
          <p:cNvPr id="42" name="Stack chip 5"/>
          <p:cNvSpPr/>
          <p:nvPr/>
        </p:nvSpPr>
        <p:spPr>
          <a:xfrm>
            <a:off x="7406640" y="411480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Stack text 5"/>
          <p:cNvSpPr txBox="1"/>
          <p:nvPr/>
        </p:nvSpPr>
        <p:spPr>
          <a:xfrm>
            <a:off x="740664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git + checkpoints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Cline SDK is the engine</a:t>
            </a:r>
            <a:endParaRPr lang="en-US" sz="3600" dirty="0"/>
          </a:p>
        </p:txBody>
      </p:sp>
      <p:sp>
        <p:nvSpPr>
          <p:cNvPr id="3" name="Deliverable tag"/>
          <p:cNvSpPr/>
          <p:nvPr/>
        </p:nvSpPr>
        <p:spPr>
          <a:xfrm>
            <a:off x="6675120" y="420624"/>
            <a:ext cx="20116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Deliverable tag text"/>
          <p:cNvSpPr txBox="1"/>
          <p:nvPr/>
        </p:nvSpPr>
        <p:spPr>
          <a:xfrm>
            <a:off x="6675120" y="4206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 · Architecture &amp; Cline</a:t>
            </a:r>
            <a:endParaRPr lang="en-US" sz="11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The agent calls our audit tool itself and decides when it's done. No hand-written retry loop.</a:t>
            </a:r>
            <a:endParaRPr lang="en-US" sz="1600" dirty="0"/>
          </a:p>
        </p:txBody>
      </p:sp>
      <p:sp>
        <p:nvSpPr>
          <p:cNvPr id="6" name="Step card 0"/>
          <p:cNvSpPr/>
          <p:nvPr/>
        </p:nvSpPr>
        <p:spPr>
          <a:xfrm>
            <a:off x="868680" y="1481328"/>
            <a:ext cx="35204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7" name="Step num bg 0"/>
          <p:cNvSpPr/>
          <p:nvPr/>
        </p:nvSpPr>
        <p:spPr>
          <a:xfrm>
            <a:off x="987552" y="15727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ep num 0"/>
          <p:cNvSpPr txBox="1"/>
          <p:nvPr/>
        </p:nvSpPr>
        <p:spPr>
          <a:xfrm>
            <a:off x="987552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tep text 0"/>
          <p:cNvSpPr txBox="1"/>
          <p:nvPr/>
        </p:nvSpPr>
        <p:spPr>
          <a:xfrm>
            <a:off x="1481328" y="14813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Read violation JSON</a:t>
            </a:r>
            <a:endParaRPr lang="en-US" sz="1500" dirty="0"/>
          </a:p>
        </p:txBody>
      </p:sp>
      <p:sp>
        <p:nvSpPr>
          <p:cNvPr id="10" name="Step card 1"/>
          <p:cNvSpPr/>
          <p:nvPr/>
        </p:nvSpPr>
        <p:spPr>
          <a:xfrm>
            <a:off x="868680" y="2212848"/>
            <a:ext cx="35204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1" name="Step num bg 1"/>
          <p:cNvSpPr/>
          <p:nvPr/>
        </p:nvSpPr>
        <p:spPr>
          <a:xfrm>
            <a:off x="987552" y="23042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tep num 1"/>
          <p:cNvSpPr txBox="1"/>
          <p:nvPr/>
        </p:nvSpPr>
        <p:spPr>
          <a:xfrm>
            <a:off x="987552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 text 1"/>
          <p:cNvSpPr txBox="1"/>
          <p:nvPr/>
        </p:nvSpPr>
        <p:spPr>
          <a:xfrm>
            <a:off x="1481328" y="22128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Locate source via CSS selectors</a:t>
            </a:r>
            <a:endParaRPr lang="en-US" sz="1500" dirty="0"/>
          </a:p>
        </p:txBody>
      </p:sp>
      <p:sp>
        <p:nvSpPr>
          <p:cNvPr id="14" name="Step card 2"/>
          <p:cNvSpPr/>
          <p:nvPr/>
        </p:nvSpPr>
        <p:spPr>
          <a:xfrm>
            <a:off x="868680" y="2944368"/>
            <a:ext cx="35204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5" name="Step num bg 2"/>
          <p:cNvSpPr/>
          <p:nvPr/>
        </p:nvSpPr>
        <p:spPr>
          <a:xfrm>
            <a:off x="987552" y="303580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num 2"/>
          <p:cNvSpPr txBox="1"/>
          <p:nvPr/>
        </p:nvSpPr>
        <p:spPr>
          <a:xfrm>
            <a:off x="987552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tep text 2"/>
          <p:cNvSpPr txBox="1"/>
          <p:nvPr/>
        </p:nvSpPr>
        <p:spPr>
          <a:xfrm>
            <a:off x="1481328" y="29443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Edit JSX / HTML (built-in tools)</a:t>
            </a:r>
            <a:endParaRPr lang="en-US" sz="1500" dirty="0"/>
          </a:p>
        </p:txBody>
      </p:sp>
      <p:sp>
        <p:nvSpPr>
          <p:cNvPr id="18" name="Step card 3"/>
          <p:cNvSpPr/>
          <p:nvPr/>
        </p:nvSpPr>
        <p:spPr>
          <a:xfrm>
            <a:off x="868680" y="3675888"/>
            <a:ext cx="35204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9" name="Step num bg 3"/>
          <p:cNvSpPr/>
          <p:nvPr/>
        </p:nvSpPr>
        <p:spPr>
          <a:xfrm>
            <a:off x="987552" y="37673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num 3"/>
          <p:cNvSpPr txBox="1"/>
          <p:nvPr/>
        </p:nvSpPr>
        <p:spPr>
          <a:xfrm>
            <a:off x="987552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Step text 3"/>
          <p:cNvSpPr txBox="1"/>
          <p:nvPr/>
        </p:nvSpPr>
        <p:spPr>
          <a:xfrm>
            <a:off x="1481328" y="3675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Call run_audit (our custom tool)</a:t>
            </a:r>
            <a:endParaRPr lang="en-US" sz="1500" dirty="0"/>
          </a:p>
        </p:txBody>
      </p:sp>
      <p:sp>
        <p:nvSpPr>
          <p:cNvPr id="22" name="Return loop"/>
          <p:cNvSpPr/>
          <p:nvPr/>
        </p:nvSpPr>
        <p:spPr>
          <a:xfrm>
            <a:off x="548640" y="1755648"/>
            <a:ext cx="0" cy="219456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23" name="Return loop foot"/>
          <p:cNvSpPr/>
          <p:nvPr/>
        </p:nvSpPr>
        <p:spPr>
          <a:xfrm>
            <a:off x="548640" y="3950208"/>
            <a:ext cx="301752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24" name="Return loop head"/>
          <p:cNvSpPr/>
          <p:nvPr/>
        </p:nvSpPr>
        <p:spPr>
          <a:xfrm>
            <a:off x="548640" y="1755648"/>
            <a:ext cx="301752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Loop caption"/>
          <p:cNvSpPr txBox="1"/>
          <p:nvPr/>
        </p:nvSpPr>
        <p:spPr>
          <a:xfrm>
            <a:off x="868680" y="44074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Fails? Loop back. Passes? Stop.</a:t>
            </a:r>
            <a:endParaRPr lang="en-US" sz="1200" dirty="0"/>
          </a:p>
        </p:txBody>
      </p:sp>
      <p:sp>
        <p:nvSpPr>
          <p:cNvPr id="26" name="Engine card 0"/>
          <p:cNvSpPr/>
          <p:nvPr/>
        </p:nvSpPr>
        <p:spPr>
          <a:xfrm>
            <a:off x="4754880" y="1481328"/>
            <a:ext cx="3931920" cy="1481328"/>
          </a:xfrm>
          <a:prstGeom prst="roundRect">
            <a:avLst>
              <a:gd name="adj" fmla="val 6173"/>
            </a:avLst>
          </a:prstGeom>
          <a:solidFill>
            <a:schemeClr val="tx2"/>
          </a:solidFill>
          <a:ln/>
        </p:spPr>
      </p:sp>
      <p:sp>
        <p:nvSpPr>
          <p:cNvPr id="27" name="Built on @cline/sdk circle"/>
          <p:cNvSpPr/>
          <p:nvPr/>
        </p:nvSpPr>
        <p:spPr>
          <a:xfrm>
            <a:off x="4919472" y="16184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Built on @cline/sdk icon" descr="Built on @cline/sd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5484" y="1714500"/>
            <a:ext cx="192024" cy="192024"/>
          </a:xfrm>
          <a:prstGeom prst="rect">
            <a:avLst/>
          </a:prstGeom>
        </p:spPr>
      </p:pic>
      <p:sp>
        <p:nvSpPr>
          <p:cNvPr id="29" name="Engine head 0"/>
          <p:cNvSpPr txBox="1"/>
          <p:nvPr/>
        </p:nvSpPr>
        <p:spPr>
          <a:xfrm>
            <a:off x="5413248" y="1618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Built on @cline/sdk</a:t>
            </a:r>
            <a:endParaRPr lang="en-US" sz="1600" dirty="0"/>
          </a:p>
        </p:txBody>
      </p:sp>
      <p:sp>
        <p:nvSpPr>
          <p:cNvPr id="30" name="Engine bullets 0"/>
          <p:cNvSpPr txBox="1"/>
          <p:nvPr/>
        </p:nvSpPr>
        <p:spPr>
          <a:xfrm>
            <a:off x="4983480" y="208483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ClineCore: built-in file + shell tools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run_audit via createTool, shipped as a plugin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Hooks stream every step to the UI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Checkpoints for one-click rollback</a:t>
            </a:r>
            <a:endParaRPr lang="en-US" sz="1300" dirty="0"/>
          </a:p>
        </p:txBody>
      </p:sp>
      <p:sp>
        <p:nvSpPr>
          <p:cNvPr id="31" name="Engine card 1"/>
          <p:cNvSpPr/>
          <p:nvPr/>
        </p:nvSpPr>
        <p:spPr>
          <a:xfrm>
            <a:off x="4754880" y="3072384"/>
            <a:ext cx="3931920" cy="1481328"/>
          </a:xfrm>
          <a:prstGeom prst="roundRect">
            <a:avLst>
              <a:gd name="adj" fmla="val 6173"/>
            </a:avLst>
          </a:prstGeom>
          <a:solidFill>
            <a:schemeClr val="tx2"/>
          </a:solidFill>
          <a:ln/>
        </p:spPr>
      </p:sp>
      <p:sp>
        <p:nvSpPr>
          <p:cNvPr id="32" name="Guardrails circle"/>
          <p:cNvSpPr/>
          <p:nvPr/>
        </p:nvSpPr>
        <p:spPr>
          <a:xfrm>
            <a:off x="4919472" y="32095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Guardrails icon" descr="Guardra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484" y="3305556"/>
            <a:ext cx="192024" cy="192024"/>
          </a:xfrm>
          <a:prstGeom prst="rect">
            <a:avLst/>
          </a:prstGeom>
        </p:spPr>
      </p:pic>
      <p:sp>
        <p:nvSpPr>
          <p:cNvPr id="34" name="Engine head 1"/>
          <p:cNvSpPr txBox="1"/>
          <p:nvPr/>
        </p:nvSpPr>
        <p:spPr>
          <a:xfrm>
            <a:off x="5413248" y="32095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Guardrails</a:t>
            </a:r>
            <a:endParaRPr lang="en-US" sz="1600" dirty="0"/>
          </a:p>
        </p:txBody>
      </p:sp>
      <p:sp>
        <p:nvSpPr>
          <p:cNvPr id="35" name="Engine bullets 1"/>
          <p:cNvSpPr txBox="1"/>
          <p:nvPr/>
        </p:nvSpPr>
        <p:spPr>
          <a:xfrm>
            <a:off x="4983480" y="36758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maxIterations = 5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Tool policies: edits only in src/, no deletes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Rules: semantic HTML over ARIA, flag doubts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Human approval before merge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Stage 2: what we ship in 8h</a:t>
            </a:r>
            <a:endParaRPr lang="en-US" sz="3600" dirty="0"/>
          </a:p>
        </p:txBody>
      </p:sp>
      <p:sp>
        <p:nvSpPr>
          <p:cNvPr id="3" name="Deliverable tag"/>
          <p:cNvSpPr/>
          <p:nvPr/>
        </p:nvSpPr>
        <p:spPr>
          <a:xfrm>
            <a:off x="6675120" y="420624"/>
            <a:ext cx="20116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Deliverable tag text"/>
          <p:cNvSpPr txBox="1"/>
          <p:nvPr/>
        </p:nvSpPr>
        <p:spPr>
          <a:xfrm>
            <a:off x="6675120" y="4206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5 · MVP Scope (Stage 2)</a:t>
            </a:r>
            <a:endParaRPr lang="en-US" sz="11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 working fix loop on a seeded demo site. Everything else is deliberately cut.</a:t>
            </a:r>
            <a:endParaRPr lang="en-US" sz="1600" dirty="0"/>
          </a:p>
        </p:txBody>
      </p:sp>
      <p:sp>
        <p:nvSpPr>
          <p:cNvPr id="6" name="In scope card"/>
          <p:cNvSpPr/>
          <p:nvPr/>
        </p:nvSpPr>
        <p:spPr>
          <a:xfrm>
            <a:off x="457200" y="1417320"/>
            <a:ext cx="49377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7" name="In scope circle"/>
          <p:cNvSpPr/>
          <p:nvPr/>
        </p:nvSpPr>
        <p:spPr>
          <a:xfrm>
            <a:off x="640080" y="155448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n scope icon" descr="In sc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641348"/>
            <a:ext cx="173736" cy="173736"/>
          </a:xfrm>
          <a:prstGeom prst="rect">
            <a:avLst/>
          </a:prstGeom>
        </p:spPr>
      </p:pic>
      <p:sp>
        <p:nvSpPr>
          <p:cNvPr id="9" name="In scope head"/>
          <p:cNvSpPr txBox="1"/>
          <p:nvPr/>
        </p:nvSpPr>
        <p:spPr>
          <a:xfrm>
            <a:off x="109728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 scope</a:t>
            </a:r>
            <a:endParaRPr lang="en-US" sz="1600" dirty="0"/>
          </a:p>
        </p:txBody>
      </p:sp>
      <p:sp>
        <p:nvSpPr>
          <p:cNvPr id="10" name="In scope list"/>
          <p:cNvSpPr txBox="1"/>
          <p:nvPr/>
        </p:nvSpPr>
        <p:spPr>
          <a:xfrm>
            <a:off x="685800" y="20116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Fix mode for one plain HTML / React repo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4 violation types: alt text, contrast, labels, empty links/buttons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Audit → Cline SDK fix → re-audit loop, end to end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Diff viewer + before/after score UI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Demo site seeded with 25+ known violations</a:t>
            </a:r>
            <a:endParaRPr lang="en-US" sz="1300" dirty="0"/>
          </a:p>
        </p:txBody>
      </p:sp>
      <p:sp>
        <p:nvSpPr>
          <p:cNvPr id="11" name="Out scope card"/>
          <p:cNvSpPr/>
          <p:nvPr/>
        </p:nvSpPr>
        <p:spPr>
          <a:xfrm>
            <a:off x="5669280" y="1417320"/>
            <a:ext cx="30175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Out of scope circle"/>
          <p:cNvSpPr/>
          <p:nvPr/>
        </p:nvSpPr>
        <p:spPr>
          <a:xfrm>
            <a:off x="5852160" y="1554480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Out of scope icon" descr="Out of sc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28" y="1641348"/>
            <a:ext cx="173736" cy="173736"/>
          </a:xfrm>
          <a:prstGeom prst="rect">
            <a:avLst/>
          </a:prstGeom>
        </p:spPr>
      </p:pic>
      <p:sp>
        <p:nvSpPr>
          <p:cNvPr id="14" name="Out scope head"/>
          <p:cNvSpPr txBox="1"/>
          <p:nvPr/>
        </p:nvSpPr>
        <p:spPr>
          <a:xfrm>
            <a:off x="6309360" y="1554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Explicitly out</a:t>
            </a:r>
            <a:endParaRPr lang="en-US" sz="1600" dirty="0"/>
          </a:p>
        </p:txBody>
      </p:sp>
      <p:sp>
        <p:nvSpPr>
          <p:cNvPr id="15" name="Out scope list"/>
          <p:cNvSpPr txBox="1"/>
          <p:nvPr/>
        </p:nvSpPr>
        <p:spPr>
          <a:xfrm>
            <a:off x="5897880" y="201168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Scan mode at scale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Hindi alt text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GitHub PR automation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Multiple frameworks</a:t>
            </a:r>
            <a:endParaRPr lang="en-US" sz="1300" dirty="0"/>
          </a:p>
        </p:txBody>
      </p:sp>
      <p:sp>
        <p:nvSpPr>
          <p:cNvPr id="16" name="Plan block 0"/>
          <p:cNvSpPr/>
          <p:nvPr/>
        </p:nvSpPr>
        <p:spPr>
          <a:xfrm>
            <a:off x="457200" y="3611880"/>
            <a:ext cx="1298448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7" name="Plan text 0"/>
          <p:cNvSpPr txBox="1"/>
          <p:nvPr/>
        </p:nvSpPr>
        <p:spPr>
          <a:xfrm>
            <a:off x="548640" y="3611880"/>
            <a:ext cx="1115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H0–1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Audit endpoint + demo site</a:t>
            </a:r>
            <a:endParaRPr lang="en-US" sz="1300" dirty="0"/>
          </a:p>
        </p:txBody>
      </p:sp>
      <p:sp>
        <p:nvSpPr>
          <p:cNvPr id="18" name="Plan block 1"/>
          <p:cNvSpPr/>
          <p:nvPr/>
        </p:nvSpPr>
        <p:spPr>
          <a:xfrm>
            <a:off x="1843430" y="3611880"/>
            <a:ext cx="1298448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19" name="Plan text 1"/>
          <p:cNvSpPr txBox="1"/>
          <p:nvPr/>
        </p:nvSpPr>
        <p:spPr>
          <a:xfrm>
            <a:off x="1934870" y="3611880"/>
            <a:ext cx="1115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H1–3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Cline loop, 1 violation type</a:t>
            </a:r>
            <a:endParaRPr lang="en-US" sz="1300" dirty="0"/>
          </a:p>
        </p:txBody>
      </p:sp>
      <p:sp>
        <p:nvSpPr>
          <p:cNvPr id="20" name="Plan block 2"/>
          <p:cNvSpPr/>
          <p:nvPr/>
        </p:nvSpPr>
        <p:spPr>
          <a:xfrm>
            <a:off x="3229661" y="3611880"/>
            <a:ext cx="1298448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21" name="Plan text 2"/>
          <p:cNvSpPr txBox="1"/>
          <p:nvPr/>
        </p:nvSpPr>
        <p:spPr>
          <a:xfrm>
            <a:off x="3321101" y="3611880"/>
            <a:ext cx="1115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H3–5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All 4 types + run_audit tool</a:t>
            </a:r>
            <a:endParaRPr lang="en-US" sz="1300" dirty="0"/>
          </a:p>
        </p:txBody>
      </p:sp>
      <p:sp>
        <p:nvSpPr>
          <p:cNvPr id="22" name="Plan block 3"/>
          <p:cNvSpPr/>
          <p:nvPr/>
        </p:nvSpPr>
        <p:spPr>
          <a:xfrm>
            <a:off x="4615891" y="3611880"/>
            <a:ext cx="1298448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3" name="Plan text 3"/>
          <p:cNvSpPr txBox="1"/>
          <p:nvPr/>
        </p:nvSpPr>
        <p:spPr>
          <a:xfrm>
            <a:off x="4707331" y="3611880"/>
            <a:ext cx="1115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H5–6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Diff + score UI</a:t>
            </a:r>
            <a:endParaRPr lang="en-US" sz="1300" dirty="0"/>
          </a:p>
        </p:txBody>
      </p:sp>
      <p:sp>
        <p:nvSpPr>
          <p:cNvPr id="24" name="Plan block 4"/>
          <p:cNvSpPr/>
          <p:nvPr/>
        </p:nvSpPr>
        <p:spPr>
          <a:xfrm>
            <a:off x="6002122" y="3611880"/>
            <a:ext cx="1298448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5" name="Plan text 4"/>
          <p:cNvSpPr txBox="1"/>
          <p:nvPr/>
        </p:nvSpPr>
        <p:spPr>
          <a:xfrm>
            <a:off x="6093562" y="3611880"/>
            <a:ext cx="1115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H6–7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Harden + record backup demo</a:t>
            </a:r>
            <a:endParaRPr lang="en-US" sz="1300" dirty="0"/>
          </a:p>
        </p:txBody>
      </p:sp>
      <p:sp>
        <p:nvSpPr>
          <p:cNvPr id="26" name="Plan block 5"/>
          <p:cNvSpPr/>
          <p:nvPr/>
        </p:nvSpPr>
        <p:spPr>
          <a:xfrm>
            <a:off x="7388352" y="3611880"/>
            <a:ext cx="1298448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7" name="Plan text 5"/>
          <p:cNvSpPr txBox="1"/>
          <p:nvPr/>
        </p:nvSpPr>
        <p:spPr>
          <a:xfrm>
            <a:off x="7479792" y="3611880"/>
            <a:ext cx="1115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H7–8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Pitch rehearsal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demo, and what's next</a:t>
            </a:r>
            <a:endParaRPr lang="en-US" sz="3600" dirty="0"/>
          </a:p>
        </p:txBody>
      </p:sp>
      <p:sp>
        <p:nvSpPr>
          <p:cNvPr id="3" name="Deliverable tag"/>
          <p:cNvSpPr/>
          <p:nvPr/>
        </p:nvSpPr>
        <p:spPr>
          <a:xfrm>
            <a:off x="6675120" y="420624"/>
            <a:ext cx="20116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Deliverable tag text"/>
          <p:cNvSpPr txBox="1"/>
          <p:nvPr/>
        </p:nvSpPr>
        <p:spPr>
          <a:xfrm>
            <a:off x="6675120" y="4206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Demo target &amp; roadmap</a:t>
            </a:r>
            <a:endParaRPr lang="en-US" sz="11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A sample Indian SMB site, fixed live and verified by the same audit that flagged it.</a:t>
            </a:r>
            <a:endParaRPr lang="en-US" sz="1600" dirty="0"/>
          </a:p>
        </p:txBody>
      </p:sp>
      <p:sp>
        <p:nvSpPr>
          <p:cNvPr id="6" name="Demo label"/>
          <p:cNvSpPr txBox="1"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LIVE DEMO TARGET</a:t>
            </a:r>
            <a:endParaRPr lang="en-US" sz="1100" dirty="0"/>
          </a:p>
        </p:txBody>
      </p:sp>
      <p:sp>
        <p:nvSpPr>
          <p:cNvPr id="7" name="Score ring before"/>
          <p:cNvSpPr/>
          <p:nvPr/>
        </p:nvSpPr>
        <p:spPr>
          <a:xfrm>
            <a:off x="502920" y="1828800"/>
            <a:ext cx="1325880" cy="1325880"/>
          </a:xfrm>
          <a:prstGeom prst="ellipse">
            <a:avLst/>
          </a:prstGeom>
          <a:solidFill>
            <a:schemeClr val="tx2"/>
          </a:solidFill>
          <a:ln w="76200">
            <a:solidFill>
              <a:schemeClr val="accent3"/>
            </a:solidFill>
            <a:prstDash val="solid"/>
          </a:ln>
        </p:spPr>
      </p:sp>
      <p:sp>
        <p:nvSpPr>
          <p:cNvPr id="8" name="Score before"/>
          <p:cNvSpPr txBox="1"/>
          <p:nvPr/>
        </p:nvSpPr>
        <p:spPr>
          <a:xfrm>
            <a:off x="502920" y="18288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4000" dirty="0"/>
          </a:p>
        </p:txBody>
      </p:sp>
      <p:sp>
        <p:nvSpPr>
          <p:cNvPr id="9" name="Score cap before"/>
          <p:cNvSpPr txBox="1"/>
          <p:nvPr/>
        </p:nvSpPr>
        <p:spPr>
          <a:xfrm>
            <a:off x="502920" y="3200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</a:t>
            </a:r>
            <a:endParaRPr lang="en-US" sz="1100" dirty="0"/>
          </a:p>
        </p:txBody>
      </p:sp>
      <p:sp>
        <p:nvSpPr>
          <p:cNvPr id="10" name="Score arrow"/>
          <p:cNvSpPr/>
          <p:nvPr/>
        </p:nvSpPr>
        <p:spPr>
          <a:xfrm>
            <a:off x="2029968" y="2331720"/>
            <a:ext cx="50292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Score ring after"/>
          <p:cNvSpPr/>
          <p:nvPr/>
        </p:nvSpPr>
        <p:spPr>
          <a:xfrm>
            <a:off x="2743200" y="1828800"/>
            <a:ext cx="1325880" cy="1325880"/>
          </a:xfrm>
          <a:prstGeom prst="ellipse">
            <a:avLst/>
          </a:prstGeom>
          <a:solidFill>
            <a:schemeClr val="tx2"/>
          </a:solidFill>
          <a:ln w="76200">
            <a:solidFill>
              <a:schemeClr val="accent2"/>
            </a:solidFill>
            <a:prstDash val="solid"/>
          </a:ln>
        </p:spPr>
      </p:sp>
      <p:sp>
        <p:nvSpPr>
          <p:cNvPr id="12" name="Score after"/>
          <p:cNvSpPr txBox="1"/>
          <p:nvPr/>
        </p:nvSpPr>
        <p:spPr>
          <a:xfrm>
            <a:off x="2743200" y="18288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4000" dirty="0"/>
          </a:p>
        </p:txBody>
      </p:sp>
      <p:sp>
        <p:nvSpPr>
          <p:cNvPr id="13" name="Score cap after"/>
          <p:cNvSpPr txBox="1"/>
          <p:nvPr/>
        </p:nvSpPr>
        <p:spPr>
          <a:xfrm>
            <a:off x="2743200" y="3200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After</a:t>
            </a:r>
            <a:endParaRPr lang="en-US" sz="1100" dirty="0"/>
          </a:p>
        </p:txBody>
      </p:sp>
      <p:sp>
        <p:nvSpPr>
          <p:cNvPr id="14" name="Demo caption"/>
          <p:cNvSpPr txBox="1"/>
          <p:nvPr/>
        </p:nvSpPr>
        <p:spPr>
          <a:xfrm>
            <a:off x="457200" y="35478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25 violations → 0 machine-detectable</a:t>
            </a:r>
            <a:endParaRPr lang="en-US" sz="1400" dirty="0"/>
          </a:p>
        </p:txBody>
      </p:sp>
      <p:sp>
        <p:nvSpPr>
          <p:cNvPr id="15" name="Roadmap label"/>
          <p:cNvSpPr txBox="1"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ROADMAP</a:t>
            </a:r>
            <a:endParaRPr lang="en-US" sz="1100" dirty="0"/>
          </a:p>
        </p:txBody>
      </p:sp>
      <p:sp>
        <p:nvSpPr>
          <p:cNvPr id="16" name="Roadmap 0 circle"/>
          <p:cNvSpPr/>
          <p:nvPr/>
        </p:nvSpPr>
        <p:spPr>
          <a:xfrm>
            <a:off x="4937760" y="18288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Roadmap 0 icon" descr="Roadmap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3772" y="1924812"/>
            <a:ext cx="192024" cy="192024"/>
          </a:xfrm>
          <a:prstGeom prst="rect">
            <a:avLst/>
          </a:prstGeom>
        </p:spPr>
      </p:pic>
      <p:sp>
        <p:nvSpPr>
          <p:cNvPr id="18" name="Roadmap text 0"/>
          <p:cNvSpPr txBox="1"/>
          <p:nvPr/>
        </p:nvSpPr>
        <p:spPr>
          <a:xfrm>
            <a:off x="5440680" y="18288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Ship run_audit as an installable Cline plugin</a:t>
            </a:r>
            <a:endParaRPr lang="en-US" sz="1400" dirty="0"/>
          </a:p>
        </p:txBody>
      </p:sp>
      <p:sp>
        <p:nvSpPr>
          <p:cNvPr id="19" name="Roadmap 1 circle"/>
          <p:cNvSpPr/>
          <p:nvPr/>
        </p:nvSpPr>
        <p:spPr>
          <a:xfrm>
            <a:off x="4937760" y="237744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Roadmap 1 icon" descr="Roadmap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772" y="2473452"/>
            <a:ext cx="192024" cy="192024"/>
          </a:xfrm>
          <a:prstGeom prst="rect">
            <a:avLst/>
          </a:prstGeom>
        </p:spPr>
      </p:pic>
      <p:sp>
        <p:nvSpPr>
          <p:cNvPr id="21" name="Roadmap text 1"/>
          <p:cNvSpPr txBox="1"/>
          <p:nvPr/>
        </p:nvSpPr>
        <p:spPr>
          <a:xfrm>
            <a:off x="5440680" y="23774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GitHub Action on every pull request</a:t>
            </a:r>
            <a:endParaRPr lang="en-US" sz="1400" dirty="0"/>
          </a:p>
        </p:txBody>
      </p:sp>
      <p:sp>
        <p:nvSpPr>
          <p:cNvPr id="22" name="Roadmap 2 circle"/>
          <p:cNvSpPr/>
          <p:nvPr/>
        </p:nvSpPr>
        <p:spPr>
          <a:xfrm>
            <a:off x="4937760" y="29260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Roadmap 2 icon" descr="Roadmap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772" y="3022092"/>
            <a:ext cx="192024" cy="192024"/>
          </a:xfrm>
          <a:prstGeom prst="rect">
            <a:avLst/>
          </a:prstGeom>
        </p:spPr>
      </p:pic>
      <p:sp>
        <p:nvSpPr>
          <p:cNvPr id="24" name="Roadmap text 2"/>
          <p:cNvSpPr txBox="1"/>
          <p:nvPr/>
        </p:nvSpPr>
        <p:spPr>
          <a:xfrm>
            <a:off x="5440680" y="29260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Hindi and regional-language alt text</a:t>
            </a:r>
            <a:endParaRPr lang="en-US" sz="1400" dirty="0"/>
          </a:p>
        </p:txBody>
      </p:sp>
      <p:sp>
        <p:nvSpPr>
          <p:cNvPr id="25" name="Roadmap 3 circle"/>
          <p:cNvSpPr/>
          <p:nvPr/>
        </p:nvSpPr>
        <p:spPr>
          <a:xfrm>
            <a:off x="4937760" y="34747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Roadmap 3 icon" descr="Roadmap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772" y="3570732"/>
            <a:ext cx="192024" cy="192024"/>
          </a:xfrm>
          <a:prstGeom prst="rect">
            <a:avLst/>
          </a:prstGeom>
        </p:spPr>
      </p:pic>
      <p:sp>
        <p:nvSpPr>
          <p:cNvPr id="27" name="Roadmap text 3"/>
          <p:cNvSpPr txBox="1"/>
          <p:nvPr/>
        </p:nvSpPr>
        <p:spPr>
          <a:xfrm>
            <a:off x="5440680" y="34747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GIGW compliance report for tenders</a:t>
            </a:r>
            <a:endParaRPr lang="en-US" sz="1400" dirty="0"/>
          </a:p>
        </p:txBody>
      </p:sp>
      <p:sp>
        <p:nvSpPr>
          <p:cNvPr id="28" name="Closing line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Accessibility isn't a knowledge problem anymore. It's a labor problem, and agents do labor.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A11y Signal">
  <a:themeElements>
    <a:clrScheme name="AutoA11y Signal">
      <a:dk1>
        <a:srgbClr val="111827"/>
      </a:dk1>
      <a:lt1>
        <a:srgbClr val="FFFFFF"/>
      </a:lt1>
      <a:dk2>
        <a:srgbClr val="1F2A44"/>
      </a:dk2>
      <a:lt2>
        <a:srgbClr val="F1F3F7"/>
      </a:lt2>
      <a:accent1>
        <a:srgbClr val="FFC53D"/>
      </a:accent1>
      <a:accent2>
        <a:srgbClr val="1B7F4C"/>
      </a:accent2>
      <a:accent3>
        <a:srgbClr val="B42318"/>
      </a:accent3>
      <a:accent4>
        <a:srgbClr val="4B5563"/>
      </a:accent4>
      <a:accent5>
        <a:srgbClr val="9CA3AF"/>
      </a:accent5>
      <a:accent6>
        <a:srgbClr val="6D28D9"/>
      </a:accent6>
      <a:hlink>
        <a:srgbClr val="1D4ED8"/>
      </a:hlink>
      <a:folHlink>
        <a:srgbClr val="6D28D9"/>
      </a:folHlink>
    </a:clrScheme>
    <a:fontScheme name="AutoA11y Sign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AutoA11y — Cline AI Builders Hackathon</dc:title>
  <dc:subject>PptxGenJS Presentation</dc:subject>
  <dc:creator>Team JadiBooty</dc:creator>
  <cp:lastModifiedBy>Team JadiBooty</cp:lastModifiedBy>
  <cp:revision>1</cp:revision>
  <dcterms:created xsi:type="dcterms:W3CDTF">2026-10-03T16:06:47Z</dcterms:created>
  <dcterms:modified xsi:type="dcterms:W3CDTF">2026-10-03T16:06:47Z</dcterms:modified>
</cp:coreProperties>
</file>